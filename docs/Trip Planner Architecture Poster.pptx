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0058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chivo"/>
              </a:rPr>
              <a:t>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chivo"/>
              </a:rPr>
              <a:t>Trip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A0A9"/>
                </a:solidFill>
                <a:latin typeface="Archivo"/>
              </a:rPr>
              <a:t>Corporate Travel Planner &amp; Policy-Compliance Agent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137160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FA0A9"/>
                </a:solidFill>
                <a:latin typeface="Consolas"/>
              </a:rPr>
              <a:t>SEP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713232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Employee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767D84"/>
                </a:solidFill>
                <a:latin typeface="Archivo"/>
              </a:rPr>
              <a:t>IC / Manager / Director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14320" y="941832.0"/>
            <a:ext cx="86360" cy="0.0"/>
          </a:xfrm>
          <a:prstGeom prst="line">
            <a:avLst/>
          </a:prstGeom>
          <a:ln w="12700">
            <a:solidFill>
              <a:srgbClr val="767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713232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Client Layer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767D84"/>
                </a:solidFill>
                <a:latin typeface="Archivo"/>
              </a:rPr>
              <a:t>Streamlit UI — persona switcher, policy Q&amp;A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48960" y="941832.0"/>
            <a:ext cx="86360" cy="0.0"/>
          </a:xfrm>
          <a:prstGeom prst="line">
            <a:avLst/>
          </a:prstGeom>
          <a:ln w="12700">
            <a:solidFill>
              <a:srgbClr val="767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713232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API Gateway · FastAPI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767D84"/>
                </a:solidFill>
                <a:latin typeface="Archivo"/>
              </a:rPr>
              <a:t>Mock OIDC · 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1298448"/>
            <a:ext cx="850392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032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" y="1298448"/>
            <a:ext cx="8503920" cy="292608"/>
          </a:xfrm>
          <a:prstGeom prst="roundRect">
            <a:avLst>
              <a:gd name="adj" fmla="val 15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Archivo"/>
              </a:rPr>
              <a:t>⚙ LangGraph Orchestrator — Deterministic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35331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DCEFF0"/>
                </a:solidFill>
                <a:latin typeface="Consolas"/>
              </a:rPr>
              <a:t>pipeline, not hub-and-spoke · 3 nodes + 1 loop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1645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A5F6C"/>
                </a:solidFill>
                <a:latin typeface="Consolas"/>
              </a:rPr>
              <a:t>route_after_policy_check(state)</a:t>
            </a:r>
            <a:r>
              <a:rPr sz="900" b="0">
                <a:solidFill>
                  <a:srgbClr val="52585D"/>
                </a:solidFill>
                <a:latin typeface="Archivo"/>
              </a:rPr>
              <a:t> re-reads the full state after policy_check and returns exactly one of two edges — no LLM decides what runs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AGENTS/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WeatherAgent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FlightAgent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PolicyAgent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201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GUARDRAILS/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201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allowlist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prompt_injection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groundedness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thresholds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approval_gate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2012" y="2953512"/>
            <a:ext cx="19796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>
                <a:solidFill>
                  <a:srgbClr val="767D84"/>
                </a:solidFill>
                <a:latin typeface="Archivo"/>
              </a:rPr>
              <a:t>5 independent layers — defense in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RAG/ ·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retrieve_policy_clauses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job_level baked in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Qdrant payload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953512"/>
            <a:ext cx="19796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>
                <a:solidFill>
                  <a:srgbClr val="767D84"/>
                </a:solidFill>
                <a:latin typeface="Archivo"/>
              </a:rPr>
              <a:t>not LLM-fillable — re-checked at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397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CROSS-CUTTING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397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cost/ledger.py (dual)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audit/store.py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observability/tracing.py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3972" y="2953512"/>
            <a:ext cx="19796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>
                <a:solidFill>
                  <a:srgbClr val="767D84"/>
                </a:solidFill>
                <a:latin typeface="Archivo"/>
              </a:rPr>
              <a:t>wraps every node, not a stage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3374136"/>
            <a:ext cx="85039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" y="3374136"/>
            <a:ext cx="8503920" cy="256032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🔌 MCP Tool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41985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767D84"/>
                </a:solidFill>
                <a:latin typeface="Consolas"/>
              </a:rPr>
              <a:t>stdio JSON-RPC · spawned per-agent via mcp_client.py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685032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E4EFEC"/>
          </a:solidFill>
          <a:ln w="1397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0E7C8C"/>
                </a:solidFill>
                <a:latin typeface="Consolas"/>
              </a:rPr>
              <a:t>geocode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" y="3685032"/>
            <a:ext cx="900684" cy="256032"/>
          </a:xfrm>
          <a:prstGeom prst="roundRect">
            <a:avLst>
              <a:gd name="adj" fmla="val 50000"/>
            </a:avLst>
          </a:prstGeom>
          <a:solidFill>
            <a:srgbClr val="E4EFEC"/>
          </a:solidFill>
          <a:ln w="1397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0E7C8C"/>
                </a:solidFill>
                <a:latin typeface="Consolas"/>
              </a:rPr>
              <a:t>get_weather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93392" y="3685032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E4EFEC"/>
          </a:solidFill>
          <a:ln w="1397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0E7C8C"/>
                </a:solidFill>
                <a:latin typeface="Consolas"/>
              </a:rPr>
              <a:t>search_flights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72968" y="3685032"/>
            <a:ext cx="1449324" cy="256032"/>
          </a:xfrm>
          <a:prstGeom prst="roundRect">
            <a:avLst>
              <a:gd name="adj" fmla="val 50000"/>
            </a:avLst>
          </a:prstGeom>
          <a:solidFill>
            <a:srgbClr val="F7E6E3"/>
          </a:solidFill>
          <a:ln w="1397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B33E33"/>
                </a:solidFill>
                <a:latin typeface="Consolas"/>
              </a:rPr>
              <a:t>book_flight — 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977640"/>
            <a:ext cx="8229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trip_lookup_server (read-only) + booking_server (the one write action) — deliberately separate processes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" y="4215384"/>
            <a:ext cx="85039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FLIGHT PROVIDER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duffel | aviationstack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2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LLM + EMBEDDINGS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openai (gpt-4.1)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883664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94176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VECTOR 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qdrant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84448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94960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AUDIT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sqlite | postgresql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85232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95744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ROUTE CACHE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5744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in-process | redis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986016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8288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Qdrant Cloud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policy corpus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1544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Redis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route cache (optional)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4800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OpenAI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gpt-4.1 + embeddings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056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SQLAlchemy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SQLite / Postgres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1312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Duffel / Aviationstack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flight pricing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4568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Nominatim / Open-Meteo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weather (free)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713232"/>
            <a:ext cx="3136392" cy="1709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69680" y="713232"/>
            <a:ext cx="3136392" cy="44450"/>
          </a:xfrm>
          <a:prstGeom prst="rect">
            <a:avLst/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97696" y="804672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224"/>
                </a:solidFill>
                <a:latin typeface="Archivo"/>
              </a:rPr>
              <a:t>🔒 Policy Knowledge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97696" y="1078992"/>
            <a:ext cx="2880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corporate-travel-policy — 12 sections, chunked by clause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job_levels payload index (keyword) — required to filter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embeddings: text-embedding-3-small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re-ingested wholesale on every corpus edit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97696" y="2039112"/>
            <a:ext cx="2880360" cy="329184"/>
          </a:xfrm>
          <a:prstGeom prst="roundRect">
            <a:avLst>
              <a:gd name="adj" fmla="val 15000"/>
            </a:avLst>
          </a:prstGeom>
          <a:solidFill>
            <a:srgbClr val="E4EFEC"/>
          </a:solidFill>
          <a:ln w="1270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680" b="0">
                <a:solidFill>
                  <a:srgbClr val="0E7C8C"/>
                </a:solidFill>
                <a:latin typeface="Consolas"/>
              </a:rPr>
              <a:t>rag/corpus/policy_source.md — caps kept in sync with config/guardrails.yaml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69680" y="2496312"/>
            <a:ext cx="3136392" cy="1709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69680" y="2496312"/>
            <a:ext cx="3136392" cy="44450"/>
          </a:xfrm>
          <a:prstGeom prst="rect">
            <a:avLst/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97696" y="2587752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224"/>
                </a:solidFill>
                <a:latin typeface="Archivo"/>
              </a:rPr>
              <a:t>⚡ Caches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97696" y="2862072"/>
            <a:ext cx="2880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B33E33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Route cache (Redis) — 600s TTL · key: origin:dest:date:cabin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B33E33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Semantic Q&amp;A cache (in-process) — job_level bucket · cosine ≥ 0.70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B33E33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Redis unset → falls back to in-process, same interface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97696" y="3822192"/>
            <a:ext cx="2880360" cy="329184"/>
          </a:xfrm>
          <a:prstGeom prst="roundRect">
            <a:avLst>
              <a:gd name="adj" fmla="val 15000"/>
            </a:avLst>
          </a:prstGeom>
          <a:solidFill>
            <a:srgbClr val="F7E6E3"/>
          </a:solidFill>
          <a:ln w="1270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680" b="0">
                <a:solidFill>
                  <a:srgbClr val="B33E33"/>
                </a:solidFill>
                <a:latin typeface="Consolas"/>
              </a:rPr>
              <a:t>a cache is never why a request fails — unreachable Redis degrades to a miss, never a crash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69680" y="4279392"/>
            <a:ext cx="3136392" cy="1709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69680" y="4279392"/>
            <a:ext cx="3136392" cy="44450"/>
          </a:xfrm>
          <a:prstGeom prst="rect">
            <a:avLst/>
          </a:prstGeom>
          <a:solidFill>
            <a:srgbClr val="A6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97696" y="4370832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224"/>
                </a:solidFill>
                <a:latin typeface="Archivo"/>
              </a:rPr>
              <a:t>🛡 Governance &amp; Observability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97696" y="4645152"/>
            <a:ext cx="2880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Langfuse — 1 trace/request, spans per agent + guardrail event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Mock OIDC/RBAC — job_level drives cap + approver, re-checked at retrieval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Approval Gate — book_flight blocked without a granted record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Audit trail — SQLAlchemy, append-only, PII-hashed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Golden eval suite — 14/14 (3 easy · 4 medium · 3 hard · 4 adversarial)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0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6199632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FA0A9"/>
                </a:solidFill>
                <a:latin typeface="Consolas"/>
              </a:rPr>
              <a:t>TECHNOLOGY STACK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8600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LangChain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3388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LangGraph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78176" y="6400800"/>
            <a:ext cx="627278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FastAPI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60318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Streamlit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85106" y="6400800"/>
            <a:ext cx="555955" cy="182880"/>
          </a:xfrm>
          <a:prstGeom prst="roundRect">
            <a:avLst>
              <a:gd name="adj" fmla="val 30000"/>
            </a:avLst>
          </a:prstGeom>
          <a:solidFill>
            <a:srgbClr val="0E7C8C"/>
          </a:solidFill>
          <a:ln w="9525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FFFFFF"/>
                </a:solidFill>
                <a:latin typeface="Consolas"/>
              </a:rPr>
              <a:t>Qdrant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95925" y="6400800"/>
            <a:ext cx="341985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MCP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92774" y="6400800"/>
            <a:ext cx="698601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Langfuse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46239" y="640080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SQLAlchemy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42351" y="6400800"/>
            <a:ext cx="484632" cy="182880"/>
          </a:xfrm>
          <a:prstGeom prst="roundRect">
            <a:avLst>
              <a:gd name="adj" fmla="val 30000"/>
            </a:avLst>
          </a:prstGeom>
          <a:solidFill>
            <a:srgbClr val="0E7C8C"/>
          </a:solidFill>
          <a:ln w="9525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FFFFFF"/>
                </a:solidFill>
                <a:latin typeface="Consolas"/>
              </a:rPr>
              <a:t>Redis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1847" y="6400800"/>
            <a:ext cx="555955" cy="182880"/>
          </a:xfrm>
          <a:prstGeom prst="roundRect">
            <a:avLst>
              <a:gd name="adj" fmla="val 30000"/>
            </a:avLst>
          </a:prstGeom>
          <a:solidFill>
            <a:srgbClr val="0E7C8C"/>
          </a:solidFill>
          <a:ln w="9525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FFFFFF"/>
                </a:solidFill>
                <a:latin typeface="Consolas"/>
              </a:rPr>
              <a:t>OpenAI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192666" y="6400800"/>
            <a:ext cx="555955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Duffel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03485" y="6400800"/>
            <a:ext cx="1055217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Aviationstack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13566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Nominatim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738354" y="640080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Open-Meteo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" y="6711696"/>
            <a:ext cx="1173449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8FA0A9"/>
                </a:solidFill>
                <a:latin typeface="Consolas"/>
              </a:rPr>
              <a:t>* swapped mid-build from the original spec (Pinecone → Qdrant, Anthropic → OpenAI) and Redis wired from real, live-verified — see CLAUDE.md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